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DD6F4"/>
                </a:solidFill>
                <a:latin typeface="Cascadia Code"/>
              </a:defRPr>
            </a:pPr>
            <a:r>
              <a:t>nemospeech / server.py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5C2E7"/>
                </a:solidFill>
                <a:latin typeface="Cascadia Code"/>
              </a:defRPr>
            </a:pPr>
            <a:r>
              <a:t>How the ASR server works — a visual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89B4FA"/>
                </a:solidFill>
                <a:latin typeface="Cascadia Code"/>
              </a:defRPr>
            </a:pPr>
            <a:r>
              <a:t>What we'll cover:</a:t>
            </a:r>
          </a:p>
          <a:p>
            <a:pPr>
              <a:spcAft>
                <a:spcPts val="400"/>
              </a:spcAft>
              <a:defRPr sz="18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BAC2DE"/>
                </a:solidFill>
                <a:latin typeface="Cascadia Code"/>
              </a:defRPr>
            </a:pPr>
            <a:r>
              <a:t>1.  FastAPI lifespan &amp; the @asynccontextmanager pattern</a:t>
            </a:r>
          </a:p>
          <a:p>
            <a:pPr>
              <a:spcAft>
                <a:spcPts val="400"/>
              </a:spcAft>
              <a:defRPr sz="1800" b="0">
                <a:solidFill>
                  <a:srgbClr val="BAC2DE"/>
                </a:solidFill>
                <a:latin typeface="Cascadia Code"/>
              </a:defRPr>
            </a:pPr>
            <a:r>
              <a:t>2.  The global ASR model &amp; thread-safety</a:t>
            </a:r>
          </a:p>
          <a:p>
            <a:pPr>
              <a:spcAft>
                <a:spcPts val="400"/>
              </a:spcAft>
              <a:defRPr sz="1800" b="0">
                <a:solidFill>
                  <a:srgbClr val="BAC2DE"/>
                </a:solidFill>
                <a:latin typeface="Cascadia Code"/>
              </a:defRPr>
            </a:pPr>
            <a:r>
              <a:t>3.  HTTP transcription endpoint</a:t>
            </a:r>
          </a:p>
          <a:p>
            <a:pPr>
              <a:spcAft>
                <a:spcPts val="400"/>
              </a:spcAft>
              <a:defRPr sz="1800" b="0">
                <a:solidFill>
                  <a:srgbClr val="BAC2DE"/>
                </a:solidFill>
                <a:latin typeface="Cascadia Code"/>
              </a:defRPr>
            </a:pPr>
            <a:r>
              <a:t>4.  WebSocket streaming: the full picture</a:t>
            </a:r>
          </a:p>
          <a:p>
            <a:pPr>
              <a:spcAft>
                <a:spcPts val="400"/>
              </a:spcAft>
              <a:defRPr sz="1800" b="0">
                <a:solidFill>
                  <a:srgbClr val="BAC2DE"/>
                </a:solidFill>
                <a:latin typeface="Cascadia Code"/>
              </a:defRPr>
            </a:pPr>
            <a:r>
              <a:t>5.  The transcription worker coroutine</a:t>
            </a:r>
          </a:p>
          <a:p>
            <a:pPr>
              <a:spcAft>
                <a:spcPts val="400"/>
              </a:spcAft>
              <a:defRPr sz="1800" b="0">
                <a:solidFill>
                  <a:srgbClr val="BAC2DE"/>
                </a:solidFill>
                <a:latin typeface="Cascadia Code"/>
              </a:defRPr>
            </a:pPr>
            <a:r>
              <a:t>6.  Putting it all together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DD6F4"/>
                </a:solidFill>
                <a:latin typeface="Cascadia Code"/>
              </a:defRPr>
            </a:pPr>
            <a:r>
              <a:t>What is @asynccontextmanager?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BAC2DE"/>
                </a:solidFill>
                <a:latin typeface="Cascadia Code"/>
              </a:defRPr>
            </a:pPr>
            <a:r>
              <a:t>A decorator from contextlib that turns an</a:t>
            </a:r>
          </a:p>
          <a:p>
            <a:pPr>
              <a:spcAft>
                <a:spcPts val="400"/>
              </a:spcAft>
              <a:defRPr sz="1700" b="0">
                <a:solidFill>
                  <a:srgbClr val="BAC2DE"/>
                </a:solidFill>
                <a:latin typeface="Cascadia Code"/>
              </a:defRPr>
            </a:pPr>
            <a:r>
              <a:t>async generator function into a context manager.</a:t>
            </a:r>
          </a:p>
          <a:p>
            <a:pPr>
              <a:spcAft>
                <a:spcPts val="400"/>
              </a:spcAft>
              <a:defRPr sz="17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89B4FA"/>
                </a:solidFill>
                <a:latin typeface="Cascadia Code"/>
              </a:defRPr>
            </a:pPr>
            <a:r>
              <a:t>The pattern:</a:t>
            </a:r>
          </a:p>
          <a:p>
            <a:pPr>
              <a:spcAft>
                <a:spcPts val="400"/>
              </a:spcAft>
              <a:defRPr sz="1700" b="0">
                <a:solidFill>
                  <a:srgbClr val="A6E3A1"/>
                </a:solidFill>
                <a:latin typeface="Cascadia Code"/>
              </a:defRPr>
            </a:pPr>
            <a:r>
              <a:t>  • Code BEFORE yield  →  setup / startup</a:t>
            </a:r>
          </a:p>
          <a:p>
            <a:pPr>
              <a:spcAft>
                <a:spcPts val="400"/>
              </a:spcAft>
              <a:defRPr sz="1700" b="0">
                <a:solidFill>
                  <a:srgbClr val="A6E3A1"/>
                </a:solidFill>
                <a:latin typeface="Cascadia Code"/>
              </a:defRPr>
            </a:pPr>
            <a:r>
              <a:t>  • yield                →  hand control back</a:t>
            </a:r>
          </a:p>
          <a:p>
            <a:pPr>
              <a:spcAft>
                <a:spcPts val="400"/>
              </a:spcAft>
              <a:defRPr sz="1700" b="0">
                <a:solidFill>
                  <a:srgbClr val="A6E3A1"/>
                </a:solidFill>
                <a:latin typeface="Cascadia Code"/>
              </a:defRPr>
            </a:pPr>
            <a:r>
              <a:t>  • Code AFTER yield   →  teardown / cleanup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474720"/>
            <a:ext cx="5303520" cy="2926080"/>
          </a:xfrm>
          <a:prstGeom prst="roundRect">
            <a:avLst>
              <a:gd name="adj" fmla="val 2000"/>
            </a:avLst>
          </a:prstGeom>
          <a:solidFill>
            <a:srgbClr val="1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# Generic pattern: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@asynccontextmanager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async def my_lifespan(app):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# ── STARTUP ──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resource = await load_something()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yield   # app runs while we're paused here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# ── SHUTDOWN ──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await resource.cleanup()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F5C2E7"/>
                </a:solidFill>
                <a:latin typeface="Cascadia Code"/>
              </a:defRPr>
            </a:pPr>
            <a:r>
              <a:t>Think of it like a restaurant: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  <a:r>
              <a:t>Before yield  =  open the kitchen, prep ingredients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  <a:r>
              <a:t>yield         =  restaurant is open, serving customers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  <a:r>
              <a:t>After yield   =  close up, clean the kitchen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FAB387"/>
                </a:solidFill>
                <a:latin typeface="Cascadia Code"/>
              </a:defRPr>
            </a:pPr>
            <a:r>
              <a:t>The yield is where the server lives its entire life.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49039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1">
                <a:solidFill>
                  <a:srgbClr val="FAB387"/>
                </a:solidFill>
                <a:latin typeface="Cascadia Code"/>
              </a:defRPr>
            </a:pPr>
            <a:r>
              <a:t>Why not @app.on_event('startup')?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FastAPI deprecated on_event() in favour of lifespan.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The lifespan approach is better because: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A6E3A1"/>
                </a:solidFill>
                <a:latin typeface="Cascadia Code"/>
              </a:defRPr>
            </a:pPr>
            <a:r>
              <a:t>• One function handles both startup AND shutdown</a:t>
            </a:r>
          </a:p>
          <a:p>
            <a:pPr>
              <a:spcAft>
                <a:spcPts val="300"/>
              </a:spcAft>
              <a:defRPr sz="1400" b="0">
                <a:solidFill>
                  <a:srgbClr val="A6E3A1"/>
                </a:solidFill>
                <a:latin typeface="Cascadia Code"/>
              </a:defRPr>
            </a:pPr>
            <a:r>
              <a:t>• Resources are naturally scoped (like 'with open()')</a:t>
            </a:r>
          </a:p>
          <a:p>
            <a:pPr>
              <a:spcAft>
                <a:spcPts val="300"/>
              </a:spcAft>
              <a:defRPr sz="1400" b="0">
                <a:solidFill>
                  <a:srgbClr val="A6E3A1"/>
                </a:solidFill>
                <a:latin typeface="Cascadia Code"/>
              </a:defRPr>
            </a:pPr>
            <a:r>
              <a:t>• If startup fails, shutdown code never runs</a:t>
            </a:r>
          </a:p>
          <a:p>
            <a:pPr>
              <a:spcAft>
                <a:spcPts val="300"/>
              </a:spcAft>
              <a:defRPr sz="1400" b="0">
                <a:solidFill>
                  <a:srgbClr val="A6E3A1"/>
                </a:solidFill>
                <a:latin typeface="Cascadia Code"/>
              </a:defRPr>
            </a:pPr>
            <a:r>
              <a:t>• Matches Python's 'with' pattern you already know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DD6F4"/>
                </a:solidFill>
                <a:latin typeface="Cascadia Code"/>
              </a:defRPr>
            </a:pPr>
            <a:r>
              <a:t>The lifespan() function in server.py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@asynccontextmanager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async def lifespan(app: FastAPI):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"""Load the ASR model on startup."""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global asr_model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# ── STARTUP (before yield) ──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print("Loading Nemotron ASR model...")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asr_model = nemo_asr.models.ASRModel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.from_pretrained(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"nvidia/nemotron-speech-streaming-en-0.6b"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print("Nemotron ASR model loaded!")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yield   # ← server runs here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# ── SHUTDOWN (after yield) ──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asr_model = None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120640"/>
            <a:ext cx="5486400" cy="914400"/>
          </a:xfrm>
          <a:prstGeom prst="roundRect">
            <a:avLst>
              <a:gd name="adj" fmla="val 2000"/>
            </a:avLst>
          </a:prstGeom>
          <a:solidFill>
            <a:srgbClr val="1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A6E3A1"/>
                </a:solidFill>
                <a:latin typeface="Cascadia Code"/>
              </a:defRPr>
            </a:pPr>
            <a:r>
              <a:t># Pass it to FastAPI: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A6E3A1"/>
                </a:solidFill>
                <a:latin typeface="Cascadia Code"/>
              </a:defRPr>
            </a:pPr>
            <a:r>
              <a:t>app = FastAPI(lifespan=lifespan)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137160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F5C2E7"/>
                </a:solidFill>
                <a:latin typeface="Cascadia Code"/>
              </a:defRPr>
            </a:pPr>
            <a:r>
              <a:t>① STARTUP — before yield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  <a:r>
              <a:t>Downloads the 0.6B parameter NeMo model to GPU.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  <a:r>
              <a:t>This takes ~10-30s. Nothing serves until it's done.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834640"/>
            <a:ext cx="5303520" cy="118872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89B4FA"/>
                </a:solidFill>
                <a:latin typeface="Cascadia Code"/>
              </a:defRPr>
            </a:pPr>
            <a:r>
              <a:t>② YIELD — server is alive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  <a:r>
              <a:t>Execution pauses here. FastAPI serves HTTP &amp; WS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  <a:r>
              <a:t>requests. The model is ready in asr_model.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297680"/>
            <a:ext cx="5303520" cy="118872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FAB387"/>
                </a:solidFill>
                <a:latin typeface="Cascadia Code"/>
              </a:defRPr>
            </a:pPr>
            <a:r>
              <a:t>③ SHUTDOWN — after yield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  <a:r>
              <a:t>When the server gets SIGTERM / Ctrl+C, execution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  <a:r>
              <a:t>resumes after yield. We set asr_model = None.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5760720"/>
            <a:ext cx="5303520" cy="82296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FastAPI calls lifespan like this internally:</a:t>
            </a:r>
          </a:p>
          <a:p>
            <a:pPr>
              <a:spcAft>
                <a:spcPts val="300"/>
              </a:spcAft>
              <a:defRPr sz="1400" b="1">
                <a:solidFill>
                  <a:srgbClr val="A6E3A1"/>
                </a:solidFill>
                <a:latin typeface="Cascadia Code"/>
              </a:defRPr>
            </a:pPr>
            <a:r>
              <a:t>async with lifespan(app): serve_forever()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DD6F4"/>
                </a:solidFill>
                <a:latin typeface="Cascadia Code"/>
              </a:defRPr>
            </a:pPr>
            <a:r>
              <a:t>Global Model &amp; Thread Safety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1645920"/>
          </a:xfrm>
          <a:prstGeom prst="roundRect">
            <a:avLst>
              <a:gd name="adj" fmla="val 2000"/>
            </a:avLst>
          </a:prstGeom>
          <a:solidFill>
            <a:srgbClr val="1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A6E3A1"/>
                </a:solidFill>
                <a:latin typeface="Cascadia Code"/>
              </a:defRPr>
            </a:pPr>
            <a:r>
              <a:t># Module level — shared by all requests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A6E3A1"/>
                </a:solidFill>
                <a:latin typeface="Cascadia Code"/>
              </a:defRPr>
            </a:pPr>
            <a:r>
              <a:t>asr_model = None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A6E3A1"/>
                </a:solidFill>
                <a:latin typeface="Cascadia Code"/>
              </a:defRPr>
            </a:pPr>
            <a:r>
              <a:t># threading.Lock — NOT asyncio.Lock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A6E3A1"/>
                </a:solidFill>
                <a:latin typeface="Cascadia Code"/>
              </a:defRPr>
            </a:pPr>
            <a:r>
              <a:t>_model_lock = threading.Lock()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89B4FA"/>
                </a:solidFill>
                <a:latin typeface="Cascadia Code"/>
              </a:defRPr>
            </a:pPr>
            <a:r>
              <a:t>Why a threading.Lock, not asyncio.Lock?</a:t>
            </a:r>
          </a:p>
          <a:p>
            <a:pPr>
              <a:spcAft>
                <a:spcPts val="400"/>
              </a:spcAft>
              <a:defRPr sz="16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BAC2DE"/>
                </a:solidFill>
                <a:latin typeface="Cascadia Code"/>
              </a:defRPr>
            </a:pPr>
            <a:r>
              <a:t>The NeMo model runs on CUDA (GPU). CUDA operations</a:t>
            </a:r>
          </a:p>
          <a:p>
            <a:pPr>
              <a:spcAft>
                <a:spcPts val="400"/>
              </a:spcAft>
              <a:defRPr sz="1600" b="0">
                <a:solidFill>
                  <a:srgbClr val="BAC2DE"/>
                </a:solidFill>
                <a:latin typeface="Cascadia Code"/>
              </a:defRPr>
            </a:pPr>
            <a:r>
              <a:t>are not thread-safe — two threads calling the model</a:t>
            </a:r>
          </a:p>
          <a:p>
            <a:pPr>
              <a:spcAft>
                <a:spcPts val="400"/>
              </a:spcAft>
              <a:defRPr sz="1600" b="0">
                <a:solidFill>
                  <a:srgbClr val="BAC2DE"/>
                </a:solidFill>
                <a:latin typeface="Cascadia Code"/>
              </a:defRPr>
            </a:pPr>
            <a:r>
              <a:t>at the same time would corrupt GPU memory.</a:t>
            </a:r>
          </a:p>
          <a:p>
            <a:pPr>
              <a:spcAft>
                <a:spcPts val="400"/>
              </a:spcAft>
              <a:defRPr sz="16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BAC2DE"/>
                </a:solidFill>
                <a:latin typeface="Cascadia Code"/>
              </a:defRPr>
            </a:pPr>
            <a:r>
              <a:t>threading.Lock works across OS threads.</a:t>
            </a:r>
          </a:p>
          <a:p>
            <a:pPr>
              <a:spcAft>
                <a:spcPts val="400"/>
              </a:spcAft>
              <a:defRPr sz="1600" b="0">
                <a:solidFill>
                  <a:srgbClr val="BAC2DE"/>
                </a:solidFill>
                <a:latin typeface="Cascadia Code"/>
              </a:defRPr>
            </a:pPr>
            <a:r>
              <a:t>asyncio.Lock only works within one event loop.</a:t>
            </a:r>
          </a:p>
          <a:p>
            <a:pPr>
              <a:spcAft>
                <a:spcPts val="400"/>
              </a:spcAft>
              <a:defRPr sz="16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BAC2DE"/>
                </a:solidFill>
                <a:latin typeface="Cascadia Code"/>
              </a:defRPr>
            </a:pPr>
            <a:r>
              <a:t>Since _transcribe_samples runs in a thread pool</a:t>
            </a:r>
          </a:p>
          <a:p>
            <a:pPr>
              <a:spcAft>
                <a:spcPts val="400"/>
              </a:spcAft>
              <a:defRPr sz="1600" b="1">
                <a:solidFill>
                  <a:srgbClr val="FAB387"/>
                </a:solidFill>
                <a:latin typeface="Cascadia Code"/>
              </a:defRPr>
            </a:pPr>
            <a:r>
              <a:t>(via asyncio.to_thread), we need the real OS lock.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502920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1">
                <a:solidFill>
                  <a:srgbClr val="F5C2E7"/>
                </a:solidFill>
                <a:latin typeface="Cascadia Code"/>
              </a:defRPr>
            </a:pPr>
            <a:r>
              <a:t>How the lock works: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A6E3A1"/>
                </a:solidFill>
                <a:latin typeface="Cascadia Code"/>
              </a:defRPr>
            </a:pPr>
            <a:r>
              <a:t>Request A arrives  ──→  acquires _model_lock</a:t>
            </a:r>
          </a:p>
          <a:p>
            <a:pPr>
              <a:spcAft>
                <a:spcPts val="300"/>
              </a:spcAft>
              <a:defRPr sz="1400" b="0">
                <a:solidFill>
                  <a:srgbClr val="A6E3A1"/>
                </a:solidFill>
                <a:latin typeface="Cascadia Code"/>
              </a:defRPr>
            </a:pPr>
            <a:r>
              <a:t>                         GPU transcribing...</a:t>
            </a:r>
          </a:p>
          <a:p>
            <a:pPr>
              <a:spcAft>
                <a:spcPts val="300"/>
              </a:spcAft>
              <a:defRPr sz="1400" b="0">
                <a:solidFill>
                  <a:srgbClr val="FAB387"/>
                </a:solidFill>
                <a:latin typeface="Cascadia Code"/>
              </a:defRPr>
            </a:pPr>
            <a:r>
              <a:t>Request B arrives  ──→  WAITS (lock held)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                       ...</a:t>
            </a:r>
          </a:p>
          <a:p>
            <a:pPr>
              <a:spcAft>
                <a:spcPts val="300"/>
              </a:spcAft>
              <a:defRPr sz="1400" b="0">
                <a:solidFill>
                  <a:srgbClr val="A6E3A1"/>
                </a:solidFill>
                <a:latin typeface="Cascadia Code"/>
              </a:defRPr>
            </a:pPr>
            <a:r>
              <a:t>Request A done     ──→  releases _model_lock</a:t>
            </a:r>
          </a:p>
          <a:p>
            <a:pPr>
              <a:spcAft>
                <a:spcPts val="300"/>
              </a:spcAft>
              <a:defRPr sz="1400" b="0">
                <a:solidFill>
                  <a:srgbClr val="A6E3A1"/>
                </a:solidFill>
                <a:latin typeface="Cascadia Code"/>
              </a:defRPr>
            </a:pPr>
            <a:r>
              <a:t>Request B           ──→  acquires _model_lock</a:t>
            </a:r>
          </a:p>
          <a:p>
            <a:pPr>
              <a:spcAft>
                <a:spcPts val="300"/>
              </a:spcAft>
              <a:defRPr sz="1400" b="0">
                <a:solidFill>
                  <a:srgbClr val="A6E3A1"/>
                </a:solidFill>
                <a:latin typeface="Cascadia Code"/>
              </a:defRPr>
            </a:pPr>
            <a:r>
              <a:t>                         GPU transcribing...</a:t>
            </a:r>
          </a:p>
          <a:p>
            <a:pPr>
              <a:spcAft>
                <a:spcPts val="300"/>
              </a:spcAft>
              <a:defRPr sz="1400" b="0">
                <a:solidFill>
                  <a:srgbClr val="A6E3A1"/>
                </a:solidFill>
                <a:latin typeface="Cascadia Code"/>
              </a:defRPr>
            </a:pPr>
            <a:r>
              <a:t>Request B done     ──→  releases _model_lock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Requests are serialized — only one GPU call at a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time. This is safe but means requests queue up.</a:t>
            </a:r>
          </a:p>
          <a:p>
            <a:pPr>
              <a:spcAft>
                <a:spcPts val="300"/>
              </a:spcAft>
              <a:defRPr sz="1400" b="1">
                <a:solidFill>
                  <a:srgbClr val="89B4FA"/>
                </a:solidFill>
                <a:latin typeface="Cascadia Code"/>
              </a:defRPr>
            </a:pPr>
            <a:r>
              <a:t>For a single-user voice app, this is fine.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DD6F4"/>
                </a:solidFill>
                <a:latin typeface="Cascadia Code"/>
              </a:defRPr>
            </a:pPr>
            <a:r>
              <a:t>_transcribe_samples() — the core helper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943600" cy="4114800"/>
          </a:xfrm>
          <a:prstGeom prst="roundRect">
            <a:avLst>
              <a:gd name="adj" fmla="val 2000"/>
            </a:avLst>
          </a:prstGeom>
          <a:solidFill>
            <a:srgbClr val="1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def _transcribe_samples(samples: np.ndarray) -&gt; str: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with _model_lock:           # ① serialize GPU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# ② write to temp WAV file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with tempfile.NamedTemporaryFile(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suffix=".wav", delete=False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) as tmp: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tmp_path = tmp.name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try: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# ③ write float32 samples as WAV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sf.write(tmp_path, samples, 16000)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# ④ call NeMo model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result = asr_model.transcribe([tmp_path])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if result: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    hyp = result[0]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    text = (hyp.text if hasattr(hyp, "text")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            else str(hyp))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    return text.strip()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return 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finally: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os.unlink(tmp_path)  # ⑤ always clean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188720"/>
            <a:ext cx="4846320" cy="530352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1">
                <a:solidFill>
                  <a:srgbClr val="F5C2E7"/>
                </a:solidFill>
                <a:latin typeface="Cascadia Code"/>
              </a:defRPr>
            </a:pPr>
            <a:r>
              <a:t>Step by step: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① Acquire the threading.Lock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 Only one thread can be here at a time.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② Create a temp file (.wav)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 NeMo expects a file path, not raw numpy.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③ Write samples to disk as 16kHz WAV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 soundfile handles the WAV header for us.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④ Call asr_model.transcribe([path])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 Returns a list of hypotheses. We take the first.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 .text gets the string if it's an ASR result object.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⑤ Delete the temp file in `finally`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 Ensures cleanup even if transcription fails.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FAB387"/>
                </a:solidFill>
                <a:latin typeface="Cascadia Code"/>
              </a:defRPr>
            </a:pPr>
            <a:r>
              <a:t>This is a BLOCKING function — it runs on a real</a:t>
            </a:r>
          </a:p>
          <a:p>
            <a:pPr>
              <a:spcAft>
                <a:spcPts val="300"/>
              </a:spcAft>
              <a:defRPr sz="1400" b="1">
                <a:solidFill>
                  <a:srgbClr val="FAB387"/>
                </a:solidFill>
                <a:latin typeface="Cascadia Code"/>
              </a:defRPr>
            </a:pPr>
            <a:r>
              <a:t>OS thread, not the async event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DD6F4"/>
                </a:solidFill>
                <a:latin typeface="Cascadia Code"/>
              </a:defRPr>
            </a:pPr>
            <a:r>
              <a:t>HTTP Endpoint: POST /transcribe/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@app.post("/transcribe/",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response_class=PlainTextResponse)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async def transcribe(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file: UploadFile = File(...)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) -&gt; str: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suffix = os.path.splitext(file.filename)[1]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with tempfile.NamedTemporaryFile(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suffix=suffix, delete=False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) as tmp: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content = await file.read()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tmp.write(content)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tmp_path = tmp.name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try: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result = asr_model.transcribe([tmp_path])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if result: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hyp = result[0]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text = (hyp.text if hasattr(hyp, "text")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        else str(hyp))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    return text.strip()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return 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finally: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os.unlink(tmp_path)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188720"/>
            <a:ext cx="5303520" cy="274320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F5C2E7"/>
                </a:solidFill>
                <a:latin typeface="Cascadia Code"/>
              </a:defRPr>
            </a:pPr>
            <a:r>
              <a:t>This is the simple, one-shot endpoint.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  <a:r>
              <a:t>1. Client uploads a complete WAV file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  <a:r>
              <a:t>2. Server saves it to a temp file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  <a:r>
              <a:t>3. NeMo transcribes the whole file at once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  <a:r>
              <a:t>4. Returns plain text (not JSON)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  <a:r>
              <a:t>5. Temp file is deleted in finally block</a:t>
            </a:r>
          </a:p>
          <a:p>
            <a:pPr>
              <a:spcAft>
                <a:spcPts val="300"/>
              </a:spcAft>
              <a:defRPr sz="15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FAB387"/>
                </a:solidFill>
                <a:latin typeface="Cascadia Code"/>
              </a:defRPr>
            </a:pPr>
            <a:r>
              <a:t>Used as a fallback when WebSocket fails.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4206240"/>
            <a:ext cx="5303520" cy="228600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1">
                <a:solidFill>
                  <a:srgbClr val="89B4FA"/>
                </a:solidFill>
                <a:latin typeface="Cascadia Code"/>
              </a:defRPr>
            </a:pPr>
            <a:r>
              <a:t>Note: File(...) with the ellipsis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File(...) is FastAPI's way of saying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'this parameter is required.'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The ... (Ellipsis) is a Python literal that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FastAPI interprets as 'no default value,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so the client MUST provide this field.'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DD6F4"/>
                </a:solidFill>
                <a:latin typeface="Cascadia Code"/>
              </a:defRPr>
            </a:pPr>
            <a:r>
              <a:t>WebSocket Streaming: The Big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30352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1">
                <a:solidFill>
                  <a:srgbClr val="F5C2E7"/>
                </a:solidFill>
                <a:latin typeface="Cascadia Code"/>
              </a:defRPr>
            </a:pPr>
            <a:r>
              <a:t>Two concurrent tasks running at once: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89B4FA"/>
                </a:solidFill>
                <a:latin typeface="Cascadia Code"/>
              </a:defRPr>
            </a:pPr>
            <a:r>
              <a:t>TASK 1: Main receive loop (lines 165-191)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While True: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  Wait for WebSocket message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  If binary → convert to float32, append to list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  If 'done' → break out of loop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  If disconnect → break out of loop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FAB387"/>
                </a:solidFill>
                <a:latin typeface="Cascadia Code"/>
              </a:defRPr>
            </a:pPr>
            <a:r>
              <a:t>TASK 2: Transcription worker (lines 118-161)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While running: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  Snapshot current audio chunks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  If enough audio (≥ 0.5s), transcribe it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  If text changed, send partial result to client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  Sleep 0.3s, repeat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F5C2E7"/>
                </a:solidFill>
                <a:latin typeface="Cascadia Code"/>
              </a:defRPr>
            </a:pPr>
            <a:r>
              <a:t>When TASK 1 ends: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Cancel TASK 2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Do one final transcription of ALL audio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Send {type: 'final'} to client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  Close WebSocket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188720"/>
            <a:ext cx="5303520" cy="530352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300" b="1">
                <a:solidFill>
                  <a:srgbClr val="F5C2E7"/>
                </a:solidFill>
                <a:latin typeface="Cascadia Code"/>
              </a:defRPr>
            </a:pPr>
            <a:r>
              <a:t>Timeline of a typical session: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t=0.0s  Client connects, server accepts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t=0.0s  Worker starts, sleeps 0.5s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A6E3A1"/>
                </a:solidFill>
                <a:latin typeface="Cascadia Code"/>
              </a:defRPr>
            </a:pPr>
            <a:r>
              <a:t>t=0.1s  Client sends 100ms of audio</a:t>
            </a:r>
          </a:p>
          <a:p>
            <a:pPr>
              <a:spcAft>
                <a:spcPts val="300"/>
              </a:spcAft>
              <a:defRPr sz="1300" b="0">
                <a:solidFill>
                  <a:srgbClr val="A6E3A1"/>
                </a:solidFill>
                <a:latin typeface="Cascadia Code"/>
              </a:defRPr>
            </a:pPr>
            <a:r>
              <a:t>t=0.2s  Client sends 100ms of audio</a:t>
            </a:r>
          </a:p>
          <a:p>
            <a:pPr>
              <a:spcAft>
                <a:spcPts val="300"/>
              </a:spcAft>
              <a:defRPr sz="1300" b="0">
                <a:solidFill>
                  <a:srgbClr val="A6E3A1"/>
                </a:solidFill>
                <a:latin typeface="Cascadia Code"/>
              </a:defRPr>
            </a:pPr>
            <a:r>
              <a:t>t=0.3s  Client sends 100ms of audio</a:t>
            </a:r>
          </a:p>
          <a:p>
            <a:pPr>
              <a:spcAft>
                <a:spcPts val="300"/>
              </a:spcAft>
              <a:defRPr sz="1300" b="0">
                <a:solidFill>
                  <a:srgbClr val="A6E3A1"/>
                </a:solidFill>
                <a:latin typeface="Cascadia Code"/>
              </a:defRPr>
            </a:pPr>
            <a:r>
              <a:t>... (audio keeps arriving)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89B4FA"/>
                </a:solidFill>
                <a:latin typeface="Cascadia Code"/>
              </a:defRPr>
            </a:pPr>
            <a:r>
              <a:t>t=0.5s  Worker wakes up, sees 0.5s audio</a:t>
            </a:r>
          </a:p>
          <a:p>
            <a:pPr>
              <a:spcAft>
                <a:spcPts val="300"/>
              </a:spcAft>
              <a:defRPr sz="1300" b="0">
                <a:solidFill>
                  <a:srgbClr val="89B4FA"/>
                </a:solidFill>
                <a:latin typeface="Cascadia Code"/>
              </a:defRPr>
            </a:pPr>
            <a:r>
              <a:t>         Transcribes → sends partial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89B4FA"/>
                </a:solidFill>
                <a:latin typeface="Cascadia Code"/>
              </a:defRPr>
            </a:pPr>
            <a:r>
              <a:t>t=0.8s  Worker transcribes again</a:t>
            </a:r>
          </a:p>
          <a:p>
            <a:pPr>
              <a:spcAft>
                <a:spcPts val="300"/>
              </a:spcAft>
              <a:defRPr sz="1300" b="0">
                <a:solidFill>
                  <a:srgbClr val="89B4FA"/>
                </a:solidFill>
                <a:latin typeface="Cascadia Code"/>
              </a:defRPr>
            </a:pPr>
            <a:r>
              <a:t>         New text → sends another partial</a:t>
            </a:r>
          </a:p>
          <a:p>
            <a:pPr>
              <a:spcAft>
                <a:spcPts val="300"/>
              </a:spcAft>
              <a:defRPr sz="1300" b="0">
                <a:solidFill>
                  <a:srgbClr val="89B4FA"/>
                </a:solidFill>
                <a:latin typeface="Cascadia Code"/>
              </a:defRPr>
            </a:pPr>
            <a:r>
              <a:t>... (partials keep flowing)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FAB387"/>
                </a:solidFill>
                <a:latin typeface="Cascadia Code"/>
              </a:defRPr>
            </a:pPr>
            <a:r>
              <a:t>t=3.0s  Client sends {type: 'done'}</a:t>
            </a:r>
          </a:p>
          <a:p>
            <a:pPr>
              <a:spcAft>
                <a:spcPts val="300"/>
              </a:spcAft>
              <a:defRPr sz="1300" b="0">
                <a:solidFill>
                  <a:srgbClr val="FAB387"/>
                </a:solidFill>
                <a:latin typeface="Cascadia Code"/>
              </a:defRPr>
            </a:pPr>
            <a:r>
              <a:t>         Worker cancelled</a:t>
            </a:r>
          </a:p>
          <a:p>
            <a:pPr>
              <a:spcAft>
                <a:spcPts val="300"/>
              </a:spcAft>
              <a:defRPr sz="1300" b="0">
                <a:solidFill>
                  <a:srgbClr val="FAB387"/>
                </a:solidFill>
                <a:latin typeface="Cascadia Code"/>
              </a:defRPr>
            </a:pPr>
            <a:r>
              <a:t>         Final transcription of all 3s audio</a:t>
            </a:r>
          </a:p>
          <a:p>
            <a:pPr>
              <a:spcAft>
                <a:spcPts val="300"/>
              </a:spcAft>
              <a:defRPr sz="1300" b="0">
                <a:solidFill>
                  <a:srgbClr val="FAB387"/>
                </a:solidFill>
                <a:latin typeface="Cascadia Code"/>
              </a:defRPr>
            </a:pPr>
            <a:r>
              <a:t>         Server sends {type: 'final'}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DD6F4"/>
                </a:solidFill>
                <a:latin typeface="Cascadia Code"/>
              </a:defRPr>
            </a:pPr>
            <a:r>
              <a:t>WebSocket: The Receive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943600" cy="5029200"/>
          </a:xfrm>
          <a:prstGeom prst="roundRect">
            <a:avLst>
              <a:gd name="adj" fmla="val 2000"/>
            </a:avLst>
          </a:prstGeom>
          <a:solidFill>
            <a:srgbClr val="1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await websocket.accept()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audio_lock = asyncio.Lock()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audio_chunks: list[np.ndarray] = []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running = 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worker = asyncio.create_task(transcription_worker())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try: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while True: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message = await websocket.receive()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if message["type"] == "websocket.disconnect":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break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if "bytes" in message and message["bytes"]: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raw = message["bytes"]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chunk = (np.frombuffer(raw, dtype=np.int16)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         .astype(np.float32) / 32768.0)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async with audio_lock: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    audio_chunks.append(chunk)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elif "text" in message and message["text"]: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data = json.loads(message["text"])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if data.get("type") == "done":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    break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except WebSocketDisconnect: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pass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finally: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running = 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worker.cancel()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188720"/>
            <a:ext cx="4846320" cy="256032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1">
                <a:solidFill>
                  <a:srgbClr val="F5C2E7"/>
                </a:solidFill>
                <a:latin typeface="Cascadia Code"/>
              </a:defRPr>
            </a:pPr>
            <a:r>
              <a:t>Binary message handling: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Audio arrives as raw s16le bytes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(signed 16-bit little-endian PCM).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A6E3A1"/>
                </a:solidFill>
                <a:latin typeface="Cascadia Code"/>
              </a:defRPr>
            </a:pPr>
            <a:r>
              <a:t>np.frombuffer → int16 array</a:t>
            </a:r>
          </a:p>
          <a:p>
            <a:pPr>
              <a:spcAft>
                <a:spcPts val="300"/>
              </a:spcAft>
              <a:defRPr sz="1400" b="0">
                <a:solidFill>
                  <a:srgbClr val="A6E3A1"/>
                </a:solidFill>
                <a:latin typeface="Cascadia Code"/>
              </a:defRPr>
            </a:pPr>
            <a:r>
              <a:t>.astype(float32) / 32768.0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This normalises to [-1.0, 1.0] range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which is what NeMo expects.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4023360"/>
            <a:ext cx="4846320" cy="228600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1">
                <a:solidFill>
                  <a:srgbClr val="89B4FA"/>
                </a:solidFill>
                <a:latin typeface="Cascadia Code"/>
              </a:defRPr>
            </a:pPr>
            <a:r>
              <a:t>audio_lock is asyncio.Lock</a:t>
            </a:r>
          </a:p>
          <a:p>
            <a:pPr>
              <a:spcAft>
                <a:spcPts val="300"/>
              </a:spcAft>
              <a:defRPr sz="1400" b="0">
                <a:solidFill>
                  <a:srgbClr val="89B4FA"/>
                </a:solidFill>
                <a:latin typeface="Cascadia Code"/>
              </a:defRPr>
            </a:pPr>
            <a:r>
              <a:t>(different from the threading.Lock!)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This one protects the audio_chunks list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between the receive loop and the worker.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Both run on the same event loop, so an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asyncio.Lock is correct 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DD6F4"/>
                </a:solidFill>
                <a:latin typeface="Cascadia Code"/>
              </a:defRPr>
            </a:pPr>
            <a:r>
              <a:t>The Transcription Worker Coroutine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943600" cy="5029200"/>
          </a:xfrm>
          <a:prstGeom prst="roundRect">
            <a:avLst>
              <a:gd name="adj" fmla="val 2000"/>
            </a:avLst>
          </a:prstGeom>
          <a:solidFill>
            <a:srgbClr val="1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async def transcription_worker():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nonlocal running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last_text = 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await asyncio.sleep(0.5)  # let audio accumulate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while running: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# Snapshot audio (brief lock hold)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async with audio_lock: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if not audio_chunks: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    samples = None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else: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    samples = np.concatenate(audio_chunks)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if samples is None or len(samples)/16000 &lt; 0.5: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await asyncio.sleep(0.3)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continue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# Run GPU transcription in thread pool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text = await asyncio.to_thread(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_transcribe_samples, samples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if text and text != last_text: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last_text = text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await websocket.send_json(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    {"type": "partial", "text": text}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    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A6E3A1"/>
                </a:solidFill>
                <a:latin typeface="Cascadia Code"/>
              </a:defRPr>
            </a:pPr>
            <a:r>
              <a:t>        await asyncio.sleep(0.3)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188720"/>
            <a:ext cx="4846320" cy="201168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1">
                <a:solidFill>
                  <a:srgbClr val="F5C2E7"/>
                </a:solidFill>
                <a:latin typeface="Cascadia Code"/>
              </a:defRPr>
            </a:pPr>
            <a:r>
              <a:t>asyncio.to_thread() explained: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Runs _transcribe_samples in a separate OS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thread so the event loop isn't blocked.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Without this, the server would freeze during</a:t>
            </a:r>
          </a:p>
          <a:p>
            <a:pPr>
              <a:spcAft>
                <a:spcPts val="300"/>
              </a:spcAft>
              <a:defRPr sz="1400" b="0">
                <a:solidFill>
                  <a:srgbClr val="FAB387"/>
                </a:solidFill>
                <a:latin typeface="Cascadia Code"/>
              </a:defRPr>
            </a:pPr>
            <a:r>
              <a:t>transcription — no messages could be received!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3474720"/>
            <a:ext cx="4846320" cy="164592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1">
                <a:solidFill>
                  <a:srgbClr val="89B4FA"/>
                </a:solidFill>
                <a:latin typeface="Cascadia Code"/>
              </a:defRPr>
            </a:pPr>
            <a:r>
              <a:t>Why snapshot + sleep outside the lock?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Lock is held only to copy the chunk list.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Transcription (slow!) runs outside the lock,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so the receive loop can keep appending audio.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5394960"/>
            <a:ext cx="4846320" cy="109728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1">
                <a:solidFill>
                  <a:srgbClr val="A6E3A1"/>
                </a:solidFill>
                <a:latin typeface="Cascadia Code"/>
              </a:defRPr>
            </a:pPr>
            <a:r>
              <a:t>'nonlocal running'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Lets the worker read the 'running' variable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from the outer function's scope.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DD6F4"/>
                </a:solidFill>
                <a:latin typeface="Cascadia Code"/>
              </a:defRPr>
            </a:pPr>
            <a:r>
              <a:t>Final Transcription &amp; Cleanup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943600" cy="4114800"/>
          </a:xfrm>
          <a:prstGeom prst="roundRect">
            <a:avLst>
              <a:gd name="adj" fmla="val 2000"/>
            </a:avLst>
          </a:prstGeom>
          <a:solidFill>
            <a:srgbClr val="18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# After the receive loop ends: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running = 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worker.cancel()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try: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await worker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except asyncio.CancelledError: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pass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# Final transcription of ALL accumulated audio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async with audio_lock: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if audio_chunks: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all_samples = np.concatenate(audio_chunks)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else: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all_samples = np.array([], dtype=np.float32)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if len(all_samples) / 16000.0 &gt;= 0.3: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final_text = await asyncio.to_thread(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    _transcribe_samples, all_samples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await websocket.send_json(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    {"type": "final", "text": final_text}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A6E3A1"/>
                </a:solidFill>
                <a:latin typeface="Cascadia Code"/>
              </a:defRPr>
            </a:pPr>
            <a:r>
              <a:t>await websocket.close()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188720"/>
            <a:ext cx="4846320" cy="228600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1">
                <a:solidFill>
                  <a:srgbClr val="F5C2E7"/>
                </a:solidFill>
                <a:latin typeface="Cascadia Code"/>
              </a:defRPr>
            </a:pPr>
            <a:r>
              <a:t>Why cancel + await the worker?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worker.cancel() injects a CancelledError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into the coroutine at its next await point.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'await worker' waits for it to actually stop.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We catch CancelledError because it's expected.</a:t>
            </a:r>
          </a:p>
          <a:p>
            <a:pPr>
              <a:spcAft>
                <a:spcPts val="300"/>
              </a:spcAft>
              <a:defRPr sz="1400" b="0">
                <a:solidFill>
                  <a:srgbClr val="FAB387"/>
                </a:solidFill>
                <a:latin typeface="Cascadia Code"/>
              </a:defRPr>
            </a:pPr>
            <a:r>
              <a:t>Without this, the worker could keep running.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3840480"/>
            <a:ext cx="4846320" cy="256032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1">
                <a:solidFill>
                  <a:srgbClr val="89B4FA"/>
                </a:solidFill>
                <a:latin typeface="Cascadia Code"/>
              </a:defRPr>
            </a:pPr>
            <a:r>
              <a:t>Why re-transcribe everything at the end?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The partials only transcribed what was available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at each 0.3s interval. The final transcription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processes ALL audio — beginning to end.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This gives the best accuracy because the model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has full context. The partials were just previews</a:t>
            </a:r>
          </a:p>
          <a:p>
            <a:pPr>
              <a:spcAft>
                <a:spcPts val="300"/>
              </a:spcAft>
              <a:defRPr sz="1400" b="1">
                <a:solidFill>
                  <a:srgbClr val="FAB387"/>
                </a:solidFill>
                <a:latin typeface="Cascadia Code"/>
              </a:defRPr>
            </a:pPr>
            <a:r>
              <a:t>to give the user immediate feedback.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DD6F4"/>
                </a:solidFill>
                <a:latin typeface="Cascadia Code"/>
              </a:defRPr>
            </a:pPr>
            <a:r>
              <a:t>Two Locks, Two Jobs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502920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1">
                <a:solidFill>
                  <a:srgbClr val="89B4FA"/>
                </a:solidFill>
                <a:latin typeface="Cascadia Code"/>
              </a:defRPr>
            </a:pPr>
            <a:r>
              <a:t>asyncio.Lock  (audio_lock)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F5C2E7"/>
                </a:solidFill>
                <a:latin typeface="Cascadia Code"/>
              </a:defRPr>
            </a:pPr>
            <a:r>
              <a:t>Purpose: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Protects audio_chunks list between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the receive loop and the worker.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F5C2E7"/>
                </a:solidFill>
                <a:latin typeface="Cascadia Code"/>
              </a:defRPr>
            </a:pPr>
            <a:r>
              <a:t>Where: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Inside one async event loop.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Both coroutines run on the same thread.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F5C2E7"/>
                </a:solidFill>
                <a:latin typeface="Cascadia Code"/>
              </a:defRPr>
            </a:pPr>
            <a:r>
              <a:t>How it works: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'async with audio_lock:' suspends the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current coroutine if the lock is held.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Other coroutines can still run.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FAB387"/>
                </a:solidFill>
                <a:latin typeface="Cascadia Code"/>
              </a:defRPr>
            </a:pPr>
            <a:r>
              <a:t>Key insight: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Held BRIEFLY — just to snapshot or append.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Never held during slow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188720"/>
            <a:ext cx="5303520" cy="502920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1">
                <a:solidFill>
                  <a:srgbClr val="FAB387"/>
                </a:solidFill>
                <a:latin typeface="Cascadia Code"/>
              </a:defRPr>
            </a:pPr>
            <a:r>
              <a:t>threading.Lock  (_model_lock)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F5C2E7"/>
                </a:solidFill>
                <a:latin typeface="Cascadia Code"/>
              </a:defRPr>
            </a:pPr>
            <a:r>
              <a:t>Purpose: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Prevents two OS threads from calling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the CUDA GPU model simultaneously.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F5C2E7"/>
                </a:solidFill>
                <a:latin typeface="Cascadia Code"/>
              </a:defRPr>
            </a:pPr>
            <a:r>
              <a:t>Where: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In _transcribe_samples(), which runs in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a thread pool via asyncio.to_thread().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F5C2E7"/>
                </a:solidFill>
                <a:latin typeface="Cascadia Code"/>
              </a:defRPr>
            </a:pPr>
            <a:r>
              <a:t>How it works: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'with _model_lock:' blocks the OS thread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if another thread holds the lock. The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event loop is NOT affected (different thread).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FAB387"/>
                </a:solidFill>
                <a:latin typeface="Cascadia Code"/>
              </a:defRPr>
            </a:pPr>
            <a:r>
              <a:t>Key insight: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Held for the ENTIRE transcription duration.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  <a:latin typeface="Cascadia Code"/>
              </a:defRPr>
            </a:pPr>
            <a:r>
              <a:t>This is fine — it's a background thread.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DD6F4"/>
                </a:solidFill>
                <a:latin typeface="Cascadia Code"/>
              </a:defRPr>
            </a:pPr>
            <a:r>
              <a:t>Full Architecture: How Everything Connects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200400" cy="228600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300" b="1">
                <a:solidFill>
                  <a:srgbClr val="F5C2E7"/>
                </a:solidFill>
                <a:latin typeface="Cascadia Code"/>
              </a:defRPr>
            </a:pPr>
            <a:r>
              <a:t>Rust Client (justspeak)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• Captures mic audio (cpal)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• Every 100ms, sends NEW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audio over WebSocket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• Shows overlay with partials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• Pastes final text (wtype)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8BA8"/>
                </a:solidFill>
                <a:latin typeface="Cascadia Code"/>
              </a:defRPr>
            </a:pPr>
            <a:r>
              <a:t>s16le bytes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9B4FA"/>
                </a:solidFill>
                <a:latin typeface="Cascadia Code"/>
              </a:defRPr>
            </a:pPr>
            <a:r>
              <a:t>← 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188720"/>
            <a:ext cx="6675120" cy="530352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400" b="1">
                <a:solidFill>
                  <a:srgbClr val="F5C2E7"/>
                </a:solidFill>
                <a:latin typeface="Cascadia Code"/>
              </a:defRPr>
            </a:pPr>
            <a:r>
              <a:t>Python Server (FastAPI + Uvicorn)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828800"/>
            <a:ext cx="2743200" cy="201168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200" b="1">
                <a:solidFill>
                  <a:srgbClr val="89B4FA"/>
                </a:solidFill>
                <a:latin typeface="Cascadia Code"/>
              </a:defRPr>
            </a:pPr>
            <a:r>
              <a:t>Receive Loop</a:t>
            </a:r>
          </a:p>
          <a:p>
            <a:pPr>
              <a:spcAft>
                <a:spcPts val="300"/>
              </a:spcAft>
              <a:defRPr sz="1200" b="0">
                <a:solidFill>
                  <a:srgbClr val="89B4FA"/>
                </a:solidFill>
                <a:latin typeface="Cascadia Code"/>
              </a:defRPr>
            </a:pPr>
            <a:r>
              <a:t>(async, event loop)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  <a:latin typeface="Cascadia Code"/>
              </a:defRPr>
            </a:pPr>
            <a:r>
              <a:t>Accepts WS frames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  <a:latin typeface="Cascadia Code"/>
              </a:defRPr>
            </a:pPr>
            <a:r>
              <a:t>Converts s16le→f32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  <a:latin typeface="Cascadia Code"/>
              </a:defRPr>
            </a:pPr>
            <a:r>
              <a:t>Appends to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4114800"/>
            <a:ext cx="2743200" cy="82296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100" b="1">
                <a:solidFill>
                  <a:srgbClr val="A6E3A1"/>
                </a:solidFill>
                <a:latin typeface="Cascadia Code"/>
              </a:defRPr>
            </a:pPr>
            <a:r>
              <a:t>audio_chunks: list</a:t>
            </a:r>
          </a:p>
          <a:p>
            <a:pPr>
              <a:spcAft>
                <a:spcPts val="300"/>
              </a:spcAft>
              <a:defRPr sz="1100" b="0">
                <a:solidFill>
                  <a:srgbClr val="BAC2DE"/>
                </a:solidFill>
                <a:latin typeface="Cascadia Code"/>
              </a:defRPr>
            </a:pPr>
            <a:r>
              <a:t>(protected by asyncio.Lock)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828800"/>
            <a:ext cx="2743200" cy="201168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200" b="1">
                <a:solidFill>
                  <a:srgbClr val="FAB387"/>
                </a:solidFill>
                <a:latin typeface="Cascadia Code"/>
              </a:defRPr>
            </a:pPr>
            <a:r>
              <a:t>Worker Coroutine</a:t>
            </a:r>
          </a:p>
          <a:p>
            <a:pPr>
              <a:spcAft>
                <a:spcPts val="300"/>
              </a:spcAft>
              <a:defRPr sz="1200" b="0">
                <a:solidFill>
                  <a:srgbClr val="FAB387"/>
                </a:solidFill>
                <a:latin typeface="Cascadia Code"/>
              </a:defRPr>
            </a:pPr>
            <a:r>
              <a:t>(async, event loop)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  <a:latin typeface="Cascadia Code"/>
              </a:defRPr>
            </a:pPr>
            <a:r>
              <a:t>Snapshots audio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  <a:latin typeface="Cascadia Code"/>
              </a:defRPr>
            </a:pPr>
            <a:r>
              <a:t>Sends to thread pool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  <a:latin typeface="Cascadia Code"/>
              </a:defRPr>
            </a:pPr>
            <a:r>
              <a:t>Sends partials 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4114800"/>
            <a:ext cx="2743200" cy="137160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200" b="1">
                <a:solidFill>
                  <a:srgbClr val="F5C2E7"/>
                </a:solidFill>
                <a:latin typeface="Cascadia Code"/>
              </a:defRPr>
            </a:pPr>
            <a:r>
              <a:t>Thread Pool</a:t>
            </a:r>
          </a:p>
          <a:p>
            <a:pPr>
              <a:spcAft>
                <a:spcPts val="300"/>
              </a:spcAft>
              <a:defRPr sz="1200" b="0">
                <a:solidFill>
                  <a:srgbClr val="F5C2E7"/>
                </a:solidFill>
                <a:latin typeface="Cascadia Code"/>
              </a:defRPr>
            </a:pPr>
            <a:r>
              <a:t>_transcribe_samples()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A6E3A1"/>
                </a:solidFill>
                <a:latin typeface="Cascadia Code"/>
              </a:defRPr>
            </a:pPr>
            <a:r>
              <a:t>threading.Lock → GPU</a:t>
            </a:r>
          </a:p>
          <a:p>
            <a:pPr>
              <a:spcAft>
                <a:spcPts val="300"/>
              </a:spcAft>
              <a:defRPr sz="1200" b="0">
                <a:solidFill>
                  <a:srgbClr val="A6E3A1"/>
                </a:solidFill>
                <a:latin typeface="Cascadia Code"/>
              </a:defRPr>
            </a:pPr>
            <a:r>
              <a:t>Writes WAV → NeMo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5669280"/>
            <a:ext cx="3200400" cy="64008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300" b="1">
                <a:solidFill>
                  <a:srgbClr val="F5C2E7"/>
                </a:solidFill>
                <a:latin typeface="Cascadia Code"/>
              </a:defRPr>
            </a:pPr>
            <a:r>
              <a:t>NeMo ASR Model (CUDA/GPU)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DD6F4"/>
                </a:solidFill>
                <a:latin typeface="Cascadia Code"/>
              </a:defRPr>
            </a:pPr>
            <a:r>
              <a:t>Quick Reference / Cheat Sheet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30352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300" b="1">
                <a:solidFill>
                  <a:srgbClr val="F5C2E7"/>
                </a:solidFill>
                <a:latin typeface="Cascadia Code"/>
              </a:defRPr>
            </a:pPr>
            <a:r>
              <a:t>Python concepts used in this file: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6E3A1"/>
                </a:solidFill>
                <a:latin typeface="Cascadia Code"/>
              </a:defRPr>
            </a:pPr>
            <a:r>
              <a:t>@asynccontextmanager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Turns an async generator (with yield) into a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context manager for use with 'async with'.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6E3A1"/>
                </a:solidFill>
                <a:latin typeface="Cascadia Code"/>
              </a:defRPr>
            </a:pPr>
            <a:r>
              <a:t>yield (in async context manager)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Pauses the function. Code before = setup.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Code after = teardown. The 'with' block runs.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6E3A1"/>
                </a:solidFill>
                <a:latin typeface="Cascadia Code"/>
              </a:defRPr>
            </a:pPr>
            <a:r>
              <a:t>asyncio.to_thread(fn, *args)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Runs a blocking function in a thread pool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without freezing the async event loop.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6E3A1"/>
                </a:solidFill>
                <a:latin typeface="Cascadia Code"/>
              </a:defRPr>
            </a:pPr>
            <a:r>
              <a:t>asyncio.create_task(coro)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Schedules a coroutine to run concurrently.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Returns a Task you can cancel or await.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6E3A1"/>
                </a:solidFill>
                <a:latin typeface="Cascadia Code"/>
              </a:defRPr>
            </a:pPr>
            <a:r>
              <a:t>nonlocal variable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Lets an inner function modify a variable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from the enclosing function's scope.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188720"/>
            <a:ext cx="5303520" cy="530352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254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300"/>
              </a:spcAft>
              <a:defRPr sz="1300" b="1">
                <a:solidFill>
                  <a:srgbClr val="F5C2E7"/>
                </a:solidFill>
                <a:latin typeface="Cascadia Code"/>
              </a:defRPr>
            </a:pPr>
            <a:r>
              <a:t>Endpoints: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6E3A1"/>
                </a:solidFill>
                <a:latin typeface="Cascadia Code"/>
              </a:defRPr>
            </a:pPr>
            <a:r>
              <a:t>GET /health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Returns JSON status. Used to check if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the server is up and model is loaded.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6E3A1"/>
                </a:solidFill>
                <a:latin typeface="Cascadia Code"/>
              </a:defRPr>
            </a:pPr>
            <a:r>
              <a:t>POST /transcribe/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Upload a complete audio file.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Returns plain text transcription.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Fallback when WebSocket fails.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6E3A1"/>
                </a:solidFill>
                <a:latin typeface="Cascadia Code"/>
              </a:defRPr>
            </a:pPr>
            <a:r>
              <a:t>WS /ws/stream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Real-time streaming transcription.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Send binary audio, receive JSON partials.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Send {'type':'done'} to finish.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F5C2E7"/>
                </a:solidFill>
                <a:latin typeface="Cascadia Code"/>
              </a:defRPr>
            </a:pPr>
            <a:r>
              <a:t>Server entry point: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6E3A1"/>
                </a:solidFill>
                <a:latin typeface="Cascadia Code"/>
              </a:defRPr>
            </a:pPr>
            <a:r>
              <a:t>python server.py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Starts uvicorn on 0.0.0.0:5051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  <a:latin typeface="Cascadia Code"/>
              </a:defRPr>
            </a:pPr>
            <a:r>
              <a:t>  (port configurable via NEMOTRON_PORT env var)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